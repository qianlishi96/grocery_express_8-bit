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y="5143500" cx="9144000"/>
  <p:notesSz cx="6858000" cy="9144000"/>
  <p:embeddedFontLst>
    <p:embeddedFont>
      <p:font typeface="Roboto Slab"/>
      <p:regular r:id="rId27"/>
      <p:bold r:id="rId28"/>
    </p:embeddedFont>
    <p:embeddedFont>
      <p:font typeface="Roboto"/>
      <p:regular r:id="rId29"/>
      <p:bold r:id="rId30"/>
      <p:italic r:id="rId31"/>
      <p:boldItalic r:id="rId32"/>
    </p:embeddedFont>
    <p:embeddedFont>
      <p:font typeface="Roboto Mono"/>
      <p:regular r:id="rId33"/>
      <p:bold r:id="rId34"/>
      <p:italic r:id="rId35"/>
      <p:boldItalic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RobotoSlab-bold.fntdata"/><Relationship Id="rId27" Type="http://schemas.openxmlformats.org/officeDocument/2006/relationships/font" Target="fonts/RobotoSlab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oboto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Roboto-italic.fntdata"/><Relationship Id="rId30" Type="http://schemas.openxmlformats.org/officeDocument/2006/relationships/font" Target="fonts/Roboto-bold.fntdata"/><Relationship Id="rId11" Type="http://schemas.openxmlformats.org/officeDocument/2006/relationships/slide" Target="slides/slide6.xml"/><Relationship Id="rId33" Type="http://schemas.openxmlformats.org/officeDocument/2006/relationships/font" Target="fonts/RobotoMono-regular.fntdata"/><Relationship Id="rId10" Type="http://schemas.openxmlformats.org/officeDocument/2006/relationships/slide" Target="slides/slide5.xml"/><Relationship Id="rId32" Type="http://schemas.openxmlformats.org/officeDocument/2006/relationships/font" Target="fonts/Roboto-boldItalic.fntdata"/><Relationship Id="rId13" Type="http://schemas.openxmlformats.org/officeDocument/2006/relationships/slide" Target="slides/slide8.xml"/><Relationship Id="rId35" Type="http://schemas.openxmlformats.org/officeDocument/2006/relationships/font" Target="fonts/RobotoMono-italic.fntdata"/><Relationship Id="rId12" Type="http://schemas.openxmlformats.org/officeDocument/2006/relationships/slide" Target="slides/slide7.xml"/><Relationship Id="rId34" Type="http://schemas.openxmlformats.org/officeDocument/2006/relationships/font" Target="fonts/RobotoMono-bold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36" Type="http://schemas.openxmlformats.org/officeDocument/2006/relationships/font" Target="fonts/RobotoMono-boldItalic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2394030f791_0_1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2394030f791_0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2394030f791_0_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2394030f791_0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2394030f791_0_3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2394030f791_0_3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 for grading purpose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Will focus on my own contributions - coupon, storm, visualization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 supposed to share codes, but allowed to show result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2394030f791_0_1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2394030f791_0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2394030f791_0_1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2394030f791_0_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Design docs: 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2394030f791_0_1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2394030f791_0_1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2394030f791_0_3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2394030f791_0_3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23f2fa7ee37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23f2fa7ee37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2394030f791_0_3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2394030f791_0_3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2394030f791_0_3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2394030f791_0_3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2394030f791_0_3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2394030f791_0_3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394030f791_0_3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2394030f791_0_3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2394030f791_0_4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2394030f791_0_4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2394030f791_0_4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2394030f791_0_4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2394030f791_0_4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2394030f791_0_4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2394030f791_0_3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2394030f791_0_3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2394030f791_0_4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2394030f791_0_4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23f2fa7ee3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23f2fa7ee3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23f2fa7ee37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23f2fa7ee37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2394030f791_0_2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2394030f791_0_2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2394030f791_0_2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2394030f791_0_2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1524800" y="672606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/>
        </p:nvSpPr>
        <p:spPr>
          <a:xfrm rot="10800000">
            <a:off x="6537563" y="33429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cxnSp>
        <p:nvCxnSpPr>
          <p:cNvPr id="12" name="Google Shape;12;p2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p2"/>
          <p:cNvSpPr txBox="1"/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" name="Google Shape;18;p3"/>
          <p:cNvSpPr txBox="1"/>
          <p:nvPr>
            <p:ph type="title"/>
          </p:nvPr>
        </p:nvSpPr>
        <p:spPr>
          <a:xfrm>
            <a:off x="480750" y="1764950"/>
            <a:ext cx="8222100" cy="90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Google Shape;21;p4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" name="Google Shape;22;p4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Google Shape;26;p5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" name="Google Shape;27;p5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3879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7562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" name="Google Shape;33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Google Shape;35;p7"/>
          <p:cNvCxnSpPr/>
          <p:nvPr/>
        </p:nvCxnSpPr>
        <p:spPr>
          <a:xfrm>
            <a:off x="489218" y="1412277"/>
            <a:ext cx="3315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" name="Google Shape;36;p7"/>
          <p:cNvSpPr txBox="1"/>
          <p:nvPr>
            <p:ph type="title"/>
          </p:nvPr>
        </p:nvSpPr>
        <p:spPr>
          <a:xfrm>
            <a:off x="3879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7" name="Google Shape;37;p7"/>
          <p:cNvSpPr txBox="1"/>
          <p:nvPr>
            <p:ph idx="1" type="body"/>
          </p:nvPr>
        </p:nvSpPr>
        <p:spPr>
          <a:xfrm>
            <a:off x="387900" y="1594025"/>
            <a:ext cx="2808000" cy="268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8" name="Google Shape;3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1" name="Google Shape;41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4572000" y="-7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4" name="Google Shape;44;p9"/>
          <p:cNvCxnSpPr/>
          <p:nvPr/>
        </p:nvCxnSpPr>
        <p:spPr>
          <a:xfrm>
            <a:off x="5029675" y="4495503"/>
            <a:ext cx="5409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" name="Google Shape;45;p9"/>
          <p:cNvSpPr txBox="1"/>
          <p:nvPr>
            <p:ph type="title"/>
          </p:nvPr>
        </p:nvSpPr>
        <p:spPr>
          <a:xfrm>
            <a:off x="265500" y="1209075"/>
            <a:ext cx="4045200" cy="15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46" name="Google Shape;46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/>
          <p:nvPr>
            <p:ph idx="1" type="body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/>
        </p:txBody>
      </p:sp>
      <p:sp>
        <p:nvSpPr>
          <p:cNvPr id="51" name="Google Shape;51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/>
          <p:nvPr/>
        </p:nvSpPr>
        <p:spPr>
          <a:xfrm>
            <a:off x="150" y="5076825"/>
            <a:ext cx="9143700" cy="66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1"/>
          <p:cNvSpPr txBox="1"/>
          <p:nvPr>
            <p:ph hasCustomPrompt="1" type="title"/>
          </p:nvPr>
        </p:nvSpPr>
        <p:spPr>
          <a:xfrm>
            <a:off x="387900" y="1152450"/>
            <a:ext cx="83682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387900" y="2919450"/>
            <a:ext cx="83682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rina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hyperlink" Target="https://omscs.gatech.edu/cs-6310-software-architecture-design" TargetMode="External"/><Relationship Id="rId4" Type="http://schemas.openxmlformats.org/officeDocument/2006/relationships/hyperlink" Target="https://en.wikipedia.org/wiki/Pythagorean_theorem" TargetMode="External"/><Relationship Id="rId5" Type="http://schemas.openxmlformats.org/officeDocument/2006/relationships/hyperlink" Target="https://en.wikipedia.org/wiki/Bresenham%27s_line_algorithm" TargetMode="External"/><Relationship Id="rId6" Type="http://schemas.openxmlformats.org/officeDocument/2006/relationships/hyperlink" Target="https://en.wikipedia.org/wiki/ASCII_art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3"/>
          <p:cNvSpPr txBox="1"/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Grocery Express 8-</a:t>
            </a:r>
            <a:r>
              <a:rPr lang="en"/>
              <a:t>Bit</a:t>
            </a:r>
            <a:endParaRPr sz="2000"/>
          </a:p>
        </p:txBody>
      </p:sp>
      <p:sp>
        <p:nvSpPr>
          <p:cNvPr id="64" name="Google Shape;64;p13"/>
          <p:cNvSpPr txBox="1"/>
          <p:nvPr>
            <p:ph idx="1" type="subTitle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CS6310 SA&amp;D, 23s, A5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of Content</a:t>
            </a:r>
            <a:endParaRPr/>
          </a:p>
        </p:txBody>
      </p:sp>
      <p:sp>
        <p:nvSpPr>
          <p:cNvPr id="70" name="Google Shape;70;p14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Introduction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Project goal &amp; scope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Background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User story &amp; user cases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Problem Statement &amp; Analysis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Coupon, storm, archivability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Visualization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Demo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Future Works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References &amp; Resources</a:t>
            </a:r>
            <a:endParaRPr/>
          </a:p>
        </p:txBody>
      </p:sp>
      <p:sp>
        <p:nvSpPr>
          <p:cNvPr id="71" name="Google Shape;7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5"/>
          <p:cNvSpPr txBox="1"/>
          <p:nvPr>
            <p:ph type="title"/>
          </p:nvPr>
        </p:nvSpPr>
        <p:spPr>
          <a:xfrm>
            <a:off x="480750" y="1764950"/>
            <a:ext cx="8222100" cy="90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Disclaimer</a:t>
            </a:r>
            <a:endParaRPr/>
          </a:p>
        </p:txBody>
      </p:sp>
      <p:sp>
        <p:nvSpPr>
          <p:cNvPr id="77" name="Google Shape;77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</p:txBody>
      </p:sp>
      <p:sp>
        <p:nvSpPr>
          <p:cNvPr id="83" name="Google Shape;83;p16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Grocery Express Project, phase 5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Basing on </a:t>
            </a:r>
            <a:r>
              <a:rPr lang="en"/>
              <a:t>analysis</a:t>
            </a:r>
            <a:r>
              <a:rPr lang="en"/>
              <a:t>, design and code from phase 3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Implement functional/non-functional modifications from phase 4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Time-Sensitive Coupon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Lightning Storm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Archivability</a:t>
            </a:r>
            <a:endParaRPr/>
          </a:p>
        </p:txBody>
      </p:sp>
      <p:sp>
        <p:nvSpPr>
          <p:cNvPr id="84" name="Google Shape;8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 - </a:t>
            </a:r>
            <a:r>
              <a:rPr lang="en"/>
              <a:t>Project Goal and Scope</a:t>
            </a:r>
            <a:endParaRPr/>
          </a:p>
        </p:txBody>
      </p:sp>
      <p:sp>
        <p:nvSpPr>
          <p:cNvPr id="90" name="Google Shape;90;p17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Implement and deploy design proposal (phase 4)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Add necessary use scenarios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Functioning version of the application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Design docs (UML diagrams, submitted separately)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(Business analysis, hardware, telecommunication, real-time monitoring, etc. are beyond the scope of this project)</a:t>
            </a:r>
            <a:endParaRPr/>
          </a:p>
        </p:txBody>
      </p:sp>
      <p:sp>
        <p:nvSpPr>
          <p:cNvPr id="91" name="Google Shape;91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8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Background</a:t>
            </a:r>
            <a:r>
              <a:rPr lang="en"/>
              <a:t> - User Story</a:t>
            </a:r>
            <a:endParaRPr/>
          </a:p>
        </p:txBody>
      </p:sp>
      <p:sp>
        <p:nvSpPr>
          <p:cNvPr id="97" name="Google Shape;97;p18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“As the Grocery Express service owner, I want be able to deliver groceries from stores to customers using drones.”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“As the store owner, I want to be able to sell groceries to customer, and make profit from my merchandises.”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“As the customer, I want to purchase groceries, and have someone deliver the </a:t>
            </a:r>
            <a:r>
              <a:rPr lang="en"/>
              <a:t>groceries</a:t>
            </a:r>
            <a:r>
              <a:rPr lang="en"/>
              <a:t> to my house.”</a:t>
            </a:r>
            <a:endParaRPr/>
          </a:p>
        </p:txBody>
      </p:sp>
      <p:sp>
        <p:nvSpPr>
          <p:cNvPr id="98" name="Google Shape;98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9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Background - Use Cases</a:t>
            </a:r>
            <a:endParaRPr/>
          </a:p>
        </p:txBody>
      </p:sp>
      <p:sp>
        <p:nvSpPr>
          <p:cNvPr id="104" name="Google Shape;104;p19"/>
          <p:cNvSpPr txBox="1"/>
          <p:nvPr>
            <p:ph idx="1" type="body"/>
          </p:nvPr>
        </p:nvSpPr>
        <p:spPr>
          <a:xfrm>
            <a:off x="3879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 Mono"/>
              <a:buChar char="●"/>
            </a:pPr>
            <a:r>
              <a:rPr lang="en">
                <a:latin typeface="Roboto Mono"/>
                <a:ea typeface="Roboto Mono"/>
                <a:cs typeface="Roboto Mono"/>
                <a:sym typeface="Roboto Mono"/>
              </a:rPr>
              <a:t>m</a:t>
            </a:r>
            <a:r>
              <a:rPr lang="en">
                <a:latin typeface="Roboto Mono"/>
                <a:ea typeface="Roboto Mono"/>
                <a:cs typeface="Roboto Mono"/>
                <a:sym typeface="Roboto Mono"/>
              </a:rPr>
              <a:t>ake_store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 Mono"/>
              <a:buChar char="●"/>
            </a:pPr>
            <a:r>
              <a:rPr lang="en">
                <a:latin typeface="Roboto Mono"/>
                <a:ea typeface="Roboto Mono"/>
                <a:cs typeface="Roboto Mono"/>
                <a:sym typeface="Roboto Mono"/>
              </a:rPr>
              <a:t>s</a:t>
            </a:r>
            <a:r>
              <a:rPr lang="en">
                <a:latin typeface="Roboto Mono"/>
                <a:ea typeface="Roboto Mono"/>
                <a:cs typeface="Roboto Mono"/>
                <a:sym typeface="Roboto Mono"/>
              </a:rPr>
              <a:t>ell_item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 Mono"/>
              <a:buChar char="●"/>
            </a:pPr>
            <a:r>
              <a:rPr lang="en">
                <a:latin typeface="Roboto Mono"/>
                <a:ea typeface="Roboto Mono"/>
                <a:cs typeface="Roboto Mono"/>
                <a:sym typeface="Roboto Mono"/>
              </a:rPr>
              <a:t>m</a:t>
            </a:r>
            <a:r>
              <a:rPr lang="en">
                <a:latin typeface="Roboto Mono"/>
                <a:ea typeface="Roboto Mono"/>
                <a:cs typeface="Roboto Mono"/>
                <a:sym typeface="Roboto Mono"/>
              </a:rPr>
              <a:t>ake_pilot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 Mono"/>
              <a:buChar char="●"/>
            </a:pPr>
            <a:r>
              <a:rPr lang="en">
                <a:latin typeface="Roboto Mono"/>
                <a:ea typeface="Roboto Mono"/>
                <a:cs typeface="Roboto Mono"/>
                <a:sym typeface="Roboto Mono"/>
              </a:rPr>
              <a:t>m</a:t>
            </a:r>
            <a:r>
              <a:rPr lang="en">
                <a:latin typeface="Roboto Mono"/>
                <a:ea typeface="Roboto Mono"/>
                <a:cs typeface="Roboto Mono"/>
                <a:sym typeface="Roboto Mono"/>
              </a:rPr>
              <a:t>ake_drone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 Mono"/>
              <a:buChar char="●"/>
            </a:pPr>
            <a:r>
              <a:rPr lang="en">
                <a:latin typeface="Roboto Mono"/>
                <a:ea typeface="Roboto Mono"/>
                <a:cs typeface="Roboto Mono"/>
                <a:sym typeface="Roboto Mono"/>
              </a:rPr>
              <a:t>f</a:t>
            </a:r>
            <a:r>
              <a:rPr lang="en">
                <a:latin typeface="Roboto Mono"/>
                <a:ea typeface="Roboto Mono"/>
                <a:cs typeface="Roboto Mono"/>
                <a:sym typeface="Roboto Mono"/>
              </a:rPr>
              <a:t>ly_drone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 Mono"/>
              <a:buChar char="●"/>
            </a:pPr>
            <a:r>
              <a:rPr lang="en">
                <a:latin typeface="Roboto Mono"/>
                <a:ea typeface="Roboto Mono"/>
                <a:cs typeface="Roboto Mono"/>
                <a:sym typeface="Roboto Mono"/>
              </a:rPr>
              <a:t>m</a:t>
            </a:r>
            <a:r>
              <a:rPr lang="en">
                <a:latin typeface="Roboto Mono"/>
                <a:ea typeface="Roboto Mono"/>
                <a:cs typeface="Roboto Mono"/>
                <a:sym typeface="Roboto Mono"/>
              </a:rPr>
              <a:t>ake_customer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 Mono"/>
              <a:buChar char="●"/>
            </a:pPr>
            <a:r>
              <a:rPr lang="en">
                <a:latin typeface="Roboto Mono"/>
                <a:ea typeface="Roboto Mono"/>
                <a:cs typeface="Roboto Mono"/>
                <a:sym typeface="Roboto Mono"/>
              </a:rPr>
              <a:t>s</a:t>
            </a:r>
            <a:r>
              <a:rPr lang="en">
                <a:latin typeface="Roboto Mono"/>
                <a:ea typeface="Roboto Mono"/>
                <a:cs typeface="Roboto Mono"/>
                <a:sym typeface="Roboto Mono"/>
              </a:rPr>
              <a:t>tart_order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 Mono"/>
              <a:buChar char="●"/>
            </a:pPr>
            <a:r>
              <a:rPr lang="en">
                <a:latin typeface="Roboto Mono"/>
                <a:ea typeface="Roboto Mono"/>
                <a:cs typeface="Roboto Mono"/>
                <a:sym typeface="Roboto Mono"/>
              </a:rPr>
              <a:t>r</a:t>
            </a:r>
            <a:r>
              <a:rPr lang="en">
                <a:latin typeface="Roboto Mono"/>
                <a:ea typeface="Roboto Mono"/>
                <a:cs typeface="Roboto Mono"/>
                <a:sym typeface="Roboto Mono"/>
              </a:rPr>
              <a:t>equest_item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 Mono"/>
              <a:buChar char="●"/>
            </a:pPr>
            <a:r>
              <a:rPr lang="en">
                <a:latin typeface="Roboto Mono"/>
                <a:ea typeface="Roboto Mono"/>
                <a:cs typeface="Roboto Mono"/>
                <a:sym typeface="Roboto Mono"/>
              </a:rPr>
              <a:t>purchase_order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 Mono"/>
              <a:buChar char="●"/>
            </a:pPr>
            <a:r>
              <a:rPr lang="en">
                <a:latin typeface="Roboto Mono"/>
                <a:ea typeface="Roboto Mono"/>
                <a:cs typeface="Roboto Mono"/>
                <a:sym typeface="Roboto Mono"/>
              </a:rPr>
              <a:t>t</a:t>
            </a:r>
            <a:r>
              <a:rPr lang="en">
                <a:latin typeface="Roboto Mono"/>
                <a:ea typeface="Roboto Mono"/>
                <a:cs typeface="Roboto Mono"/>
                <a:sym typeface="Roboto Mono"/>
              </a:rPr>
              <a:t>ransfer_order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 Mono"/>
              <a:buChar char="●"/>
            </a:pPr>
            <a:r>
              <a:rPr lang="en">
                <a:latin typeface="Roboto Mono"/>
                <a:ea typeface="Roboto Mono"/>
                <a:cs typeface="Roboto Mono"/>
                <a:sym typeface="Roboto Mono"/>
              </a:rPr>
              <a:t>…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05" name="Google Shape;105;p19"/>
          <p:cNvSpPr txBox="1"/>
          <p:nvPr>
            <p:ph idx="2" type="body"/>
          </p:nvPr>
        </p:nvSpPr>
        <p:spPr>
          <a:xfrm>
            <a:off x="47562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 Mono"/>
              <a:buChar char="●"/>
            </a:pPr>
            <a:r>
              <a:rPr lang="en">
                <a:latin typeface="Roboto Mono"/>
                <a:ea typeface="Roboto Mono"/>
                <a:cs typeface="Roboto Mono"/>
                <a:sym typeface="Roboto Mono"/>
              </a:rPr>
              <a:t>d</a:t>
            </a:r>
            <a:r>
              <a:rPr lang="en">
                <a:latin typeface="Roboto Mono"/>
                <a:ea typeface="Roboto Mono"/>
                <a:cs typeface="Roboto Mono"/>
                <a:sym typeface="Roboto Mono"/>
              </a:rPr>
              <a:t>isplay_stores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 Mono"/>
              <a:buChar char="●"/>
            </a:pPr>
            <a:r>
              <a:rPr lang="en">
                <a:latin typeface="Roboto Mono"/>
                <a:ea typeface="Roboto Mono"/>
                <a:cs typeface="Roboto Mono"/>
                <a:sym typeface="Roboto Mono"/>
              </a:rPr>
              <a:t>d</a:t>
            </a:r>
            <a:r>
              <a:rPr lang="en">
                <a:latin typeface="Roboto Mono"/>
                <a:ea typeface="Roboto Mono"/>
                <a:cs typeface="Roboto Mono"/>
                <a:sym typeface="Roboto Mono"/>
              </a:rPr>
              <a:t>isplay_items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 Mono"/>
              <a:buChar char="●"/>
            </a:pPr>
            <a:r>
              <a:rPr lang="en">
                <a:latin typeface="Roboto Mono"/>
                <a:ea typeface="Roboto Mono"/>
                <a:cs typeface="Roboto Mono"/>
                <a:sym typeface="Roboto Mono"/>
              </a:rPr>
              <a:t>d</a:t>
            </a:r>
            <a:r>
              <a:rPr lang="en">
                <a:latin typeface="Roboto Mono"/>
                <a:ea typeface="Roboto Mono"/>
                <a:cs typeface="Roboto Mono"/>
                <a:sym typeface="Roboto Mono"/>
              </a:rPr>
              <a:t>isplay_pilots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 Mono"/>
              <a:buChar char="●"/>
            </a:pPr>
            <a:r>
              <a:rPr lang="en">
                <a:latin typeface="Roboto Mono"/>
                <a:ea typeface="Roboto Mono"/>
                <a:cs typeface="Roboto Mono"/>
                <a:sym typeface="Roboto Mono"/>
              </a:rPr>
              <a:t>d</a:t>
            </a:r>
            <a:r>
              <a:rPr lang="en">
                <a:latin typeface="Roboto Mono"/>
                <a:ea typeface="Roboto Mono"/>
                <a:cs typeface="Roboto Mono"/>
                <a:sym typeface="Roboto Mono"/>
              </a:rPr>
              <a:t>isplay_drones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 Mono"/>
              <a:buChar char="●"/>
            </a:pPr>
            <a:r>
              <a:rPr lang="en">
                <a:latin typeface="Roboto Mono"/>
                <a:ea typeface="Roboto Mono"/>
                <a:cs typeface="Roboto Mono"/>
                <a:sym typeface="Roboto Mono"/>
              </a:rPr>
              <a:t>d</a:t>
            </a:r>
            <a:r>
              <a:rPr lang="en">
                <a:latin typeface="Roboto Mono"/>
                <a:ea typeface="Roboto Mono"/>
                <a:cs typeface="Roboto Mono"/>
                <a:sym typeface="Roboto Mono"/>
              </a:rPr>
              <a:t>isplay_customers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 Mono"/>
              <a:buChar char="●"/>
            </a:pPr>
            <a:r>
              <a:rPr lang="en">
                <a:latin typeface="Roboto Mono"/>
                <a:ea typeface="Roboto Mono"/>
                <a:cs typeface="Roboto Mono"/>
                <a:sym typeface="Roboto Mono"/>
              </a:rPr>
              <a:t>d</a:t>
            </a:r>
            <a:r>
              <a:rPr lang="en">
                <a:latin typeface="Roboto Mono"/>
                <a:ea typeface="Roboto Mono"/>
                <a:cs typeface="Roboto Mono"/>
                <a:sym typeface="Roboto Mono"/>
              </a:rPr>
              <a:t>isplay_orders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 Mono"/>
              <a:buChar char="●"/>
            </a:pPr>
            <a:r>
              <a:rPr lang="en">
                <a:latin typeface="Roboto Mono"/>
                <a:ea typeface="Roboto Mono"/>
                <a:cs typeface="Roboto Mono"/>
                <a:sym typeface="Roboto Mono"/>
              </a:rPr>
              <a:t>…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06" name="Google Shape;10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0"/>
          <p:cNvSpPr txBox="1"/>
          <p:nvPr>
            <p:ph type="title"/>
          </p:nvPr>
        </p:nvSpPr>
        <p:spPr>
          <a:xfrm>
            <a:off x="480750" y="1764950"/>
            <a:ext cx="8222100" cy="90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Statement &amp; Analysis</a:t>
            </a:r>
            <a:endParaRPr/>
          </a:p>
        </p:txBody>
      </p:sp>
      <p:sp>
        <p:nvSpPr>
          <p:cNvPr id="112" name="Google Shape;112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1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Statement - Time-Sensitive Coupon</a:t>
            </a:r>
            <a:endParaRPr/>
          </a:p>
        </p:txBody>
      </p:sp>
      <p:sp>
        <p:nvSpPr>
          <p:cNvPr id="118" name="Google Shape;118;p21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</a:t>
            </a:r>
            <a:r>
              <a:rPr lang="en"/>
              <a:t>You must design and implement the concept of time-sensitive coupons for your system.”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Randomly distributed, related to customer rating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Discount on an order or specific items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Discount apply to order cost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Late delivery, financial penalty</a:t>
            </a:r>
            <a:endParaRPr/>
          </a:p>
        </p:txBody>
      </p:sp>
      <p:sp>
        <p:nvSpPr>
          <p:cNvPr id="119" name="Google Shape;11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2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Analysis - Time-Sensitive Coupon</a:t>
            </a:r>
            <a:endParaRPr/>
          </a:p>
        </p:txBody>
      </p:sp>
      <p:sp>
        <p:nvSpPr>
          <p:cNvPr id="125" name="Google Shape;125;p22"/>
          <p:cNvSpPr txBox="1"/>
          <p:nvPr>
            <p:ph idx="1" type="body"/>
          </p:nvPr>
        </p:nvSpPr>
        <p:spPr>
          <a:xfrm>
            <a:off x="3879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General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Randomly distributed, related to customer rating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Discount on an order or specific items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Discount apply to order cost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Late delivery, financial penalty</a:t>
            </a:r>
            <a:endParaRPr/>
          </a:p>
        </p:txBody>
      </p:sp>
      <p:sp>
        <p:nvSpPr>
          <p:cNvPr id="126" name="Google Shape;126;p22"/>
          <p:cNvSpPr txBox="1"/>
          <p:nvPr>
            <p:ph idx="2" type="body"/>
          </p:nvPr>
        </p:nvSpPr>
        <p:spPr>
          <a:xfrm>
            <a:off x="47562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>
                <a:latin typeface="Roboto Mono"/>
                <a:ea typeface="Roboto Mono"/>
                <a:cs typeface="Roboto Mono"/>
                <a:sym typeface="Roboto Mono"/>
              </a:rPr>
              <a:t>make_coupon use case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>
                <a:latin typeface="Roboto Mono"/>
                <a:ea typeface="Roboto Mono"/>
                <a:cs typeface="Roboto Mono"/>
                <a:sym typeface="Roboto Mono"/>
              </a:rPr>
              <a:t>make_coupon_random use case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Mono"/>
              <a:buChar char="●"/>
            </a:pPr>
            <a:r>
              <a:rPr lang="en">
                <a:latin typeface="Roboto Mono"/>
                <a:ea typeface="Roboto Mono"/>
                <a:cs typeface="Roboto Mono"/>
                <a:sym typeface="Roboto Mono"/>
              </a:rPr>
              <a:t>apply_coupon use case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Mono"/>
              <a:buChar char="●"/>
            </a:pPr>
            <a:r>
              <a:rPr lang="en">
                <a:latin typeface="Roboto Mono"/>
                <a:ea typeface="Roboto Mono"/>
                <a:cs typeface="Roboto Mono"/>
                <a:sym typeface="Roboto Mono"/>
              </a:rPr>
              <a:t>display_coupons use case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 Mono"/>
              <a:buChar char="●"/>
            </a:pPr>
            <a:r>
              <a:rPr lang="en">
                <a:latin typeface="Roboto Mono"/>
                <a:ea typeface="Roboto Mono"/>
                <a:cs typeface="Roboto Mono"/>
                <a:sym typeface="Roboto Mono"/>
              </a:rPr>
              <a:t>Coupon class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Mono"/>
              <a:buChar char="●"/>
            </a:pPr>
            <a:r>
              <a:rPr lang="en">
                <a:latin typeface="Roboto Mono"/>
                <a:ea typeface="Roboto Mono"/>
                <a:cs typeface="Roboto Mono"/>
                <a:sym typeface="Roboto Mono"/>
              </a:rPr>
              <a:t>applyDiscount method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Mono"/>
              <a:buChar char="●"/>
            </a:pPr>
            <a:r>
              <a:rPr lang="en">
                <a:latin typeface="Roboto Mono"/>
                <a:ea typeface="Roboto Mono"/>
                <a:cs typeface="Roboto Mono"/>
                <a:sym typeface="Roboto Mono"/>
              </a:rPr>
              <a:t>Need to verify coupon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Mono"/>
              <a:buChar char="●"/>
            </a:pPr>
            <a:r>
              <a:rPr lang="en">
                <a:latin typeface="Roboto Mono"/>
                <a:ea typeface="Roboto Mono"/>
                <a:cs typeface="Roboto Mono"/>
                <a:sym typeface="Roboto Mono"/>
              </a:rPr>
              <a:t>Need to check late delivery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27" name="Google Shape;127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3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Statement - Lightning Storm</a:t>
            </a:r>
            <a:endParaRPr/>
          </a:p>
        </p:txBody>
      </p:sp>
      <p:sp>
        <p:nvSpPr>
          <p:cNvPr id="133" name="Google Shape;133;p23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</a:t>
            </a:r>
            <a:r>
              <a:rPr lang="en"/>
              <a:t>You must design and implement the concept of lightning storms for your system.</a:t>
            </a:r>
            <a:r>
              <a:rPr lang="en"/>
              <a:t>”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System</a:t>
            </a:r>
            <a:r>
              <a:rPr lang="en"/>
              <a:t> wide or c</a:t>
            </a:r>
            <a:r>
              <a:rPr lang="en"/>
              <a:t>ertain</a:t>
            </a:r>
            <a:r>
              <a:rPr lang="en"/>
              <a:t> region of the “system map”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Storm may vary over time (more likely during evening or morning)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Able to adjust storm intensity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Storm may strike the drone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may destroy packages or drone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Refill destructed delivery asap</a:t>
            </a:r>
            <a:endParaRPr/>
          </a:p>
        </p:txBody>
      </p:sp>
      <p:sp>
        <p:nvSpPr>
          <p:cNvPr id="134" name="Google Shape;134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4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Analysis - Lightning Storm</a:t>
            </a:r>
            <a:endParaRPr/>
          </a:p>
        </p:txBody>
      </p:sp>
      <p:sp>
        <p:nvSpPr>
          <p:cNvPr id="140" name="Google Shape;140;p24"/>
          <p:cNvSpPr txBox="1"/>
          <p:nvPr>
            <p:ph idx="1" type="body"/>
          </p:nvPr>
        </p:nvSpPr>
        <p:spPr>
          <a:xfrm>
            <a:off x="3879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System wide or certain region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Storm may vary over time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Able to adjust storm intensity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Storm may strike the drone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may destroy packages or drone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Refill destructed delivery asap</a:t>
            </a:r>
            <a:endParaRPr/>
          </a:p>
        </p:txBody>
      </p:sp>
      <p:sp>
        <p:nvSpPr>
          <p:cNvPr id="141" name="Google Shape;141;p24"/>
          <p:cNvSpPr txBox="1"/>
          <p:nvPr>
            <p:ph idx="2" type="body"/>
          </p:nvPr>
        </p:nvSpPr>
        <p:spPr>
          <a:xfrm>
            <a:off x="47562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>
                <a:latin typeface="Roboto Mono"/>
                <a:ea typeface="Roboto Mono"/>
                <a:cs typeface="Roboto Mono"/>
                <a:sym typeface="Roboto Mono"/>
              </a:rPr>
              <a:t>make_storm use case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>
                <a:latin typeface="Roboto Mono"/>
                <a:ea typeface="Roboto Mono"/>
                <a:cs typeface="Roboto Mono"/>
                <a:sym typeface="Roboto Mono"/>
              </a:rPr>
              <a:t>update_storm use case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Mono"/>
              <a:buChar char="●"/>
            </a:pPr>
            <a:r>
              <a:rPr lang="en">
                <a:latin typeface="Roboto Mono"/>
                <a:ea typeface="Roboto Mono"/>
                <a:cs typeface="Roboto Mono"/>
                <a:sym typeface="Roboto Mono"/>
              </a:rPr>
              <a:t>remove_storm use case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Mono"/>
              <a:buChar char="●"/>
            </a:pPr>
            <a:r>
              <a:rPr lang="en">
                <a:latin typeface="Roboto Mono"/>
                <a:ea typeface="Roboto Mono"/>
                <a:cs typeface="Roboto Mono"/>
                <a:sym typeface="Roboto Mono"/>
              </a:rPr>
              <a:t>display_storms use case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Mono"/>
              <a:buChar char="●"/>
            </a:pPr>
            <a:r>
              <a:rPr lang="en">
                <a:latin typeface="Roboto Mono"/>
                <a:ea typeface="Roboto Mono"/>
                <a:cs typeface="Roboto Mono"/>
                <a:sym typeface="Roboto Mono"/>
              </a:rPr>
              <a:t>struck_by_storm use case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Mono"/>
              <a:buChar char="●"/>
            </a:pPr>
            <a:r>
              <a:rPr lang="en">
                <a:latin typeface="Roboto Mono"/>
                <a:ea typeface="Roboto Mono"/>
                <a:cs typeface="Roboto Mono"/>
                <a:sym typeface="Roboto Mono"/>
              </a:rPr>
              <a:t>refill_order use case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 Mono"/>
              <a:buChar char="●"/>
            </a:pPr>
            <a:r>
              <a:rPr lang="en">
                <a:latin typeface="Roboto Mono"/>
                <a:ea typeface="Roboto Mono"/>
                <a:cs typeface="Roboto Mono"/>
                <a:sym typeface="Roboto Mono"/>
              </a:rPr>
              <a:t>Storm class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Mono"/>
              <a:buChar char="●"/>
            </a:pPr>
            <a:r>
              <a:rPr lang="en">
                <a:latin typeface="Roboto Mono"/>
                <a:ea typeface="Roboto Mono"/>
                <a:cs typeface="Roboto Mono"/>
                <a:sym typeface="Roboto Mono"/>
              </a:rPr>
              <a:t>Need to check storm-delivery overlap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Mono"/>
              <a:buChar char="●"/>
            </a:pPr>
            <a:r>
              <a:rPr lang="en">
                <a:latin typeface="Roboto Mono"/>
                <a:ea typeface="Roboto Mono"/>
                <a:cs typeface="Roboto Mono"/>
                <a:sym typeface="Roboto Mono"/>
              </a:rPr>
              <a:t>Need to quantify impacts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42" name="Google Shape;142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5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Statement - Archivability</a:t>
            </a:r>
            <a:endParaRPr/>
          </a:p>
        </p:txBody>
      </p:sp>
      <p:sp>
        <p:nvSpPr>
          <p:cNvPr id="148" name="Google Shape;148;p25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</a:t>
            </a:r>
            <a:r>
              <a:rPr lang="en"/>
              <a:t>Will the data need to be archived or deleted after a period of time?</a:t>
            </a:r>
            <a:r>
              <a:rPr lang="en"/>
              <a:t>”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For example, customer accounts are to be deleted after three months or marked as obsolete and archived to a secondary database for future access.</a:t>
            </a:r>
            <a:endParaRPr/>
          </a:p>
        </p:txBody>
      </p:sp>
      <p:sp>
        <p:nvSpPr>
          <p:cNvPr id="149" name="Google Shape;149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6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Analysis - Archivability</a:t>
            </a:r>
            <a:endParaRPr/>
          </a:p>
        </p:txBody>
      </p:sp>
      <p:sp>
        <p:nvSpPr>
          <p:cNvPr id="155" name="Google Shape;155;p26"/>
          <p:cNvSpPr txBox="1"/>
          <p:nvPr>
            <p:ph idx="1" type="body"/>
          </p:nvPr>
        </p:nvSpPr>
        <p:spPr>
          <a:xfrm>
            <a:off x="3879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Archive old customers, coupons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Separated database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JSON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…</a:t>
            </a:r>
            <a:endParaRPr/>
          </a:p>
        </p:txBody>
      </p:sp>
      <p:sp>
        <p:nvSpPr>
          <p:cNvPr id="156" name="Google Shape;156;p26"/>
          <p:cNvSpPr txBox="1"/>
          <p:nvPr>
            <p:ph idx="2" type="body"/>
          </p:nvPr>
        </p:nvSpPr>
        <p:spPr>
          <a:xfrm>
            <a:off x="47562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Mono"/>
              <a:buChar char="●"/>
            </a:pPr>
            <a:r>
              <a:rPr lang="en">
                <a:latin typeface="Roboto Mono"/>
                <a:ea typeface="Roboto Mono"/>
                <a:cs typeface="Roboto Mono"/>
                <a:sym typeface="Roboto Mono"/>
              </a:rPr>
              <a:t>…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57" name="Google Shape;157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7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Analysis - Synergy &amp; Others</a:t>
            </a:r>
            <a:endParaRPr/>
          </a:p>
        </p:txBody>
      </p:sp>
      <p:sp>
        <p:nvSpPr>
          <p:cNvPr id="163" name="Google Shape;163;p27"/>
          <p:cNvSpPr txBox="1"/>
          <p:nvPr>
            <p:ph idx="1" type="body"/>
          </p:nvPr>
        </p:nvSpPr>
        <p:spPr>
          <a:xfrm>
            <a:off x="3879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Cannot treat delivery as a simple, instantaneous operation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Delay in delivery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Coupon for inactive customers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Coupon for late deliveries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Need keep track of program date 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Notify customers, announcements</a:t>
            </a:r>
            <a:endParaRPr/>
          </a:p>
        </p:txBody>
      </p:sp>
      <p:sp>
        <p:nvSpPr>
          <p:cNvPr id="164" name="Google Shape;164;p27"/>
          <p:cNvSpPr txBox="1"/>
          <p:nvPr>
            <p:ph idx="2" type="body"/>
          </p:nvPr>
        </p:nvSpPr>
        <p:spPr>
          <a:xfrm>
            <a:off x="47562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Mono"/>
              <a:buChar char="●"/>
            </a:pPr>
            <a:r>
              <a:rPr lang="en">
                <a:latin typeface="Roboto Mono"/>
                <a:ea typeface="Roboto Mono"/>
                <a:cs typeface="Roboto Mono"/>
                <a:sym typeface="Roboto Mono"/>
              </a:rPr>
              <a:t>Delivery class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Mono"/>
              <a:buChar char="○"/>
            </a:pPr>
            <a:r>
              <a:rPr lang="en">
                <a:latin typeface="Roboto Mono"/>
                <a:ea typeface="Roboto Mono"/>
                <a:cs typeface="Roboto Mono"/>
                <a:sym typeface="Roboto Mono"/>
              </a:rPr>
              <a:t>Start, process, end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Mono"/>
              <a:buChar char="●"/>
            </a:pPr>
            <a:r>
              <a:rPr lang="en">
                <a:latin typeface="Roboto Mono"/>
                <a:ea typeface="Roboto Mono"/>
                <a:cs typeface="Roboto Mono"/>
                <a:sym typeface="Roboto Mono"/>
              </a:rPr>
              <a:t>d</a:t>
            </a:r>
            <a:r>
              <a:rPr lang="en">
                <a:latin typeface="Roboto Mono"/>
                <a:ea typeface="Roboto Mono"/>
                <a:cs typeface="Roboto Mono"/>
                <a:sym typeface="Roboto Mono"/>
              </a:rPr>
              <a:t>elay use case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Mono"/>
              <a:buChar char="●"/>
            </a:pPr>
            <a:r>
              <a:rPr lang="en">
                <a:latin typeface="Roboto Mono"/>
                <a:ea typeface="Roboto Mono"/>
                <a:cs typeface="Roboto Mono"/>
                <a:sym typeface="Roboto Mono"/>
              </a:rPr>
              <a:t>r</a:t>
            </a:r>
            <a:r>
              <a:rPr lang="en">
                <a:latin typeface="Roboto Mono"/>
                <a:ea typeface="Roboto Mono"/>
                <a:cs typeface="Roboto Mono"/>
                <a:sym typeface="Roboto Mono"/>
              </a:rPr>
              <a:t>eturn_customer_coupon use case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Mono"/>
              <a:buChar char="●"/>
            </a:pPr>
            <a:r>
              <a:rPr lang="en">
                <a:latin typeface="Roboto Mono"/>
                <a:ea typeface="Roboto Mono"/>
                <a:cs typeface="Roboto Mono"/>
                <a:sym typeface="Roboto Mono"/>
              </a:rPr>
              <a:t>lateDeliveryCoupon method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Mono"/>
              <a:buChar char="●"/>
            </a:pPr>
            <a:r>
              <a:rPr lang="en">
                <a:latin typeface="Roboto Mono"/>
                <a:ea typeface="Roboto Mono"/>
                <a:cs typeface="Roboto Mono"/>
                <a:sym typeface="Roboto Mono"/>
              </a:rPr>
              <a:t>u</a:t>
            </a:r>
            <a:r>
              <a:rPr lang="en">
                <a:latin typeface="Roboto Mono"/>
                <a:ea typeface="Roboto Mono"/>
                <a:cs typeface="Roboto Mono"/>
                <a:sym typeface="Roboto Mono"/>
              </a:rPr>
              <a:t>pdate_date use case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Mono"/>
              <a:buChar char="●"/>
            </a:pPr>
            <a:r>
              <a:rPr lang="en">
                <a:latin typeface="Roboto Mono"/>
                <a:ea typeface="Roboto Mono"/>
                <a:cs typeface="Roboto Mono"/>
                <a:sym typeface="Roboto Mono"/>
              </a:rPr>
              <a:t>n</a:t>
            </a:r>
            <a:r>
              <a:rPr lang="en">
                <a:latin typeface="Roboto Mono"/>
                <a:ea typeface="Roboto Mono"/>
                <a:cs typeface="Roboto Mono"/>
                <a:sym typeface="Roboto Mono"/>
              </a:rPr>
              <a:t>otify use case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65" name="Google Shape;165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8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Extra Feature</a:t>
            </a:r>
            <a:r>
              <a:rPr lang="en"/>
              <a:t> - Visualization</a:t>
            </a:r>
            <a:endParaRPr/>
          </a:p>
        </p:txBody>
      </p:sp>
      <p:sp>
        <p:nvSpPr>
          <p:cNvPr id="171" name="Google Shape;171;p28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Visualization, by presenting a grid map at command line interface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Inspired by ASCII art, using Box-drawing characters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Just like a chessboard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Best practice without a professional frontend</a:t>
            </a:r>
            <a:endParaRPr/>
          </a:p>
        </p:txBody>
      </p:sp>
      <p:sp>
        <p:nvSpPr>
          <p:cNvPr id="172" name="Google Shape;172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9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Analysis - </a:t>
            </a:r>
            <a:r>
              <a:rPr lang="en"/>
              <a:t>Visualization</a:t>
            </a:r>
            <a:endParaRPr/>
          </a:p>
        </p:txBody>
      </p:sp>
      <p:sp>
        <p:nvSpPr>
          <p:cNvPr id="178" name="Google Shape;178;p29"/>
          <p:cNvSpPr txBox="1"/>
          <p:nvPr>
            <p:ph idx="1" type="body"/>
          </p:nvPr>
        </p:nvSpPr>
        <p:spPr>
          <a:xfrm>
            <a:off x="3879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Visually present the town map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Store, customer, etc.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Present storm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Center, area, intensity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Present delivery path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Start, end, path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Present real-time delivery path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…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N</a:t>
            </a:r>
            <a:r>
              <a:rPr lang="en"/>
              <a:t>ot required by the client, did not elaborate too much on it.</a:t>
            </a:r>
            <a:endParaRPr/>
          </a:p>
        </p:txBody>
      </p:sp>
      <p:sp>
        <p:nvSpPr>
          <p:cNvPr id="179" name="Google Shape;179;p29"/>
          <p:cNvSpPr txBox="1"/>
          <p:nvPr>
            <p:ph idx="2" type="body"/>
          </p:nvPr>
        </p:nvSpPr>
        <p:spPr>
          <a:xfrm>
            <a:off x="47562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>
                <a:latin typeface="Roboto Mono"/>
                <a:ea typeface="Roboto Mono"/>
                <a:cs typeface="Roboto Mono"/>
                <a:sym typeface="Roboto Mono"/>
              </a:rPr>
              <a:t>display_grid_map</a:t>
            </a:r>
            <a:r>
              <a:rPr lang="en">
                <a:latin typeface="Roboto Mono"/>
                <a:ea typeface="Roboto Mono"/>
                <a:cs typeface="Roboto Mono"/>
                <a:sym typeface="Roboto Mono"/>
              </a:rPr>
              <a:t> use case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>
                <a:latin typeface="Roboto Mono"/>
                <a:ea typeface="Roboto Mono"/>
                <a:cs typeface="Roboto Mono"/>
                <a:sym typeface="Roboto Mono"/>
              </a:rPr>
              <a:t>display_delivery_path use case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Mono"/>
              <a:buChar char="●"/>
            </a:pPr>
            <a:r>
              <a:rPr lang="en">
                <a:latin typeface="Roboto Mono"/>
                <a:ea typeface="Roboto Mono"/>
                <a:cs typeface="Roboto Mono"/>
                <a:sym typeface="Roboto Mono"/>
              </a:rPr>
              <a:t>track_delivery use case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 Mono"/>
              <a:buChar char="●"/>
            </a:pPr>
            <a:r>
              <a:rPr lang="en">
                <a:latin typeface="Roboto Mono"/>
                <a:ea typeface="Roboto Mono"/>
                <a:cs typeface="Roboto Mono"/>
                <a:sym typeface="Roboto Mono"/>
              </a:rPr>
              <a:t>Grid class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Mono"/>
              <a:buChar char="●"/>
            </a:pPr>
            <a:r>
              <a:rPr lang="en">
                <a:latin typeface="Roboto Mono"/>
                <a:ea typeface="Roboto Mono"/>
                <a:cs typeface="Roboto Mono"/>
                <a:sym typeface="Roboto Mono"/>
              </a:rPr>
              <a:t>Need to add store location, customer location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Mono"/>
              <a:buChar char="●"/>
            </a:pPr>
            <a:r>
              <a:rPr lang="en">
                <a:latin typeface="Roboto Mono"/>
                <a:ea typeface="Roboto Mono"/>
                <a:cs typeface="Roboto Mono"/>
                <a:sym typeface="Roboto Mono"/>
              </a:rPr>
              <a:t>Some graphic design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80" name="Google Shape;180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0"/>
          <p:cNvSpPr txBox="1"/>
          <p:nvPr>
            <p:ph type="title"/>
          </p:nvPr>
        </p:nvSpPr>
        <p:spPr>
          <a:xfrm>
            <a:off x="480750" y="1764950"/>
            <a:ext cx="8222100" cy="90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Demo</a:t>
            </a:r>
            <a:endParaRPr/>
          </a:p>
        </p:txBody>
      </p:sp>
      <p:sp>
        <p:nvSpPr>
          <p:cNvPr id="186" name="Google Shape;186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1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Demo</a:t>
            </a:r>
            <a:endParaRPr/>
          </a:p>
        </p:txBody>
      </p:sp>
      <p:sp>
        <p:nvSpPr>
          <p:cNvPr id="192" name="Google Shape;192;p31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test_00_modified_A3_use_cases.txt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test_01_create_coupon.txt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</a:t>
            </a:r>
            <a:r>
              <a:rPr lang="en"/>
              <a:t>est_02_apply_coupon.txt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</a:t>
            </a:r>
            <a:r>
              <a:rPr lang="en"/>
              <a:t>est_03_static_visualization.txt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</a:t>
            </a:r>
            <a:r>
              <a:rPr lang="en"/>
              <a:t>est_04_path_map.txt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</a:t>
            </a:r>
            <a:r>
              <a:rPr lang="en"/>
              <a:t>est_05_delivery_tracking.txt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test_06_late_delivery_tracking.txt</a:t>
            </a:r>
            <a:endParaRPr/>
          </a:p>
        </p:txBody>
      </p:sp>
      <p:sp>
        <p:nvSpPr>
          <p:cNvPr id="193" name="Google Shape;193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2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Future Works</a:t>
            </a:r>
            <a:endParaRPr/>
          </a:p>
        </p:txBody>
      </p:sp>
      <p:sp>
        <p:nvSpPr>
          <p:cNvPr id="199" name="Google Shape;199;p32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Fix bugs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Fix </a:t>
            </a:r>
            <a:r>
              <a:rPr lang="en"/>
              <a:t>format, variable and method names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Fix nesting, local variables, r</a:t>
            </a:r>
            <a:r>
              <a:rPr lang="en"/>
              <a:t>eorganize variables and methods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Monolith migration, distributing responsibilities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More tests and edge cases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More realistic simulation, higher precision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Complex features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Formal front-end, GUI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…</a:t>
            </a:r>
            <a:endParaRPr/>
          </a:p>
        </p:txBody>
      </p:sp>
      <p:sp>
        <p:nvSpPr>
          <p:cNvPr id="200" name="Google Shape;200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3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References &amp; Resources</a:t>
            </a:r>
            <a:endParaRPr/>
          </a:p>
        </p:txBody>
      </p:sp>
      <p:sp>
        <p:nvSpPr>
          <p:cNvPr id="206" name="Google Shape;206;p33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https://omscs.gatech.edu/cs-6310-software-architecture-design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4"/>
              </a:rPr>
              <a:t>https://en.wikipedia.org/wiki/Pythagorean_theorem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5"/>
              </a:rPr>
              <a:t>https://en.wikipedia.org/wiki/Bresenham%27s_line_algorithm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6"/>
              </a:rPr>
              <a:t>https://en.wikipedia.org/wiki/ASCII_art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arina">
  <a:themeElements>
    <a:clrScheme name="Marina">
      <a:dk1>
        <a:srgbClr val="FFFFFF"/>
      </a:dk1>
      <a:lt1>
        <a:srgbClr val="00517C"/>
      </a:lt1>
      <a:dk2>
        <a:srgbClr val="004065"/>
      </a:dk2>
      <a:lt2>
        <a:srgbClr val="CFD8DC"/>
      </a:lt2>
      <a:accent1>
        <a:srgbClr val="0277BD"/>
      </a:accent1>
      <a:accent2>
        <a:srgbClr val="558B2F"/>
      </a:accent2>
      <a:accent3>
        <a:srgbClr val="009688"/>
      </a:accent3>
      <a:accent4>
        <a:srgbClr val="039BE5"/>
      </a:accent4>
      <a:accent5>
        <a:srgbClr val="8BC34A"/>
      </a:accent5>
      <a:accent6>
        <a:srgbClr val="FFEB38"/>
      </a:accent6>
      <a:hlink>
        <a:srgbClr val="8BC34A"/>
      </a:hlink>
      <a:folHlink>
        <a:srgbClr val="8BC34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